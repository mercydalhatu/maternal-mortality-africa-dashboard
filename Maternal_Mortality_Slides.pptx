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2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MMR by Country, 2018-2023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Nigeria</c:v>
                </c:pt>
              </c:strCache>
            </c:strRef>
          </c:tx>
          <c:spPr>
            <a:solidFill>
              <a:srgbClr val="25B279"/>
            </a:solidFill>
            <a:ln w="31750" cap="flat">
              <a:solidFill>
                <a:srgbClr val="25B279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5B279"/>
              </a:solidFill>
              <a:ln w="9525" cap="flat">
                <a:solidFill>
                  <a:srgbClr val="25B27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1118.0</c:v>
                </c:pt>
                <c:pt idx="1">
                  <c:v>1080.0</c:v>
                </c:pt>
                <c:pt idx="2">
                  <c:v>1050.0</c:v>
                </c:pt>
                <c:pt idx="3">
                  <c:v>1020.0</c:v>
                </c:pt>
                <c:pt idx="4">
                  <c:v>1005.0</c:v>
                </c:pt>
                <c:pt idx="5">
                  <c:v>993.0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Ethiopia</c:v>
                </c:pt>
              </c:strCache>
            </c:strRef>
          </c:tx>
          <c:spPr>
            <a:solidFill>
              <a:srgbClr val="6C8EBF"/>
            </a:solidFill>
            <a:ln w="31750" cap="flat">
              <a:solidFill>
                <a:srgbClr val="6C8EB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C8EBF"/>
              </a:solidFill>
              <a:ln w="9525" cap="flat">
                <a:solidFill>
                  <a:srgbClr val="6C8EB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297.0</c:v>
                </c:pt>
                <c:pt idx="1">
                  <c:v>270.0</c:v>
                </c:pt>
                <c:pt idx="2">
                  <c:v>250.0</c:v>
                </c:pt>
                <c:pt idx="3">
                  <c:v>230.0</c:v>
                </c:pt>
                <c:pt idx="4">
                  <c:v>210.0</c:v>
                </c:pt>
                <c:pt idx="5">
                  <c:v>195.0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Ghana</c:v>
                </c:pt>
              </c:strCache>
            </c:strRef>
          </c:tx>
          <c:spPr>
            <a:solidFill>
              <a:srgbClr val="FECB3E"/>
            </a:solidFill>
            <a:ln w="31750" cap="flat">
              <a:solidFill>
                <a:srgbClr val="FECB3E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ECB3E"/>
              </a:solidFill>
              <a:ln w="9525" cap="flat">
                <a:solidFill>
                  <a:srgbClr val="FECB3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276.0</c:v>
                </c:pt>
                <c:pt idx="1">
                  <c:v>268.0</c:v>
                </c:pt>
                <c:pt idx="2">
                  <c:v>260.0</c:v>
                </c:pt>
                <c:pt idx="3">
                  <c:v>250.0</c:v>
                </c:pt>
                <c:pt idx="4">
                  <c:v>242.0</c:v>
                </c:pt>
                <c:pt idx="5">
                  <c:v>234.0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Kenya</c:v>
                </c:pt>
              </c:strCache>
            </c:strRef>
          </c:tx>
          <c:spPr>
            <a:solidFill>
              <a:srgbClr val="FF9393"/>
            </a:solidFill>
            <a:ln w="31750" cap="flat">
              <a:solidFill>
                <a:srgbClr val="FF939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9393"/>
              </a:solidFill>
              <a:ln w="9525" cap="flat">
                <a:solidFill>
                  <a:srgbClr val="FF939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183.0</c:v>
                </c:pt>
                <c:pt idx="1">
                  <c:v>175.0</c:v>
                </c:pt>
                <c:pt idx="2">
                  <c:v>168.0</c:v>
                </c:pt>
                <c:pt idx="3">
                  <c:v>160.0</c:v>
                </c:pt>
                <c:pt idx="4">
                  <c:v>154.0</c:v>
                </c:pt>
                <c:pt idx="5">
                  <c:v>149.0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Angola</c:v>
                </c:pt>
              </c:strCache>
            </c:strRef>
          </c:tx>
          <c:spPr>
            <a:solidFill>
              <a:srgbClr val="B36E99"/>
            </a:solidFill>
            <a:ln w="31750" cap="flat">
              <a:solidFill>
                <a:srgbClr val="B36E99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B36E99"/>
              </a:solidFill>
              <a:ln w="9525" cap="flat">
                <a:solidFill>
                  <a:srgbClr val="B36E9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208.0</c:v>
                </c:pt>
                <c:pt idx="1">
                  <c:v>202.0</c:v>
                </c:pt>
                <c:pt idx="2">
                  <c:v>197.0</c:v>
                </c:pt>
                <c:pt idx="3">
                  <c:v>191.0</c:v>
                </c:pt>
                <c:pt idx="4">
                  <c:v>187.0</c:v>
                </c:pt>
                <c:pt idx="5">
                  <c:v>183.0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South Africa</c:v>
                </c:pt>
              </c:strCache>
            </c:strRef>
          </c:tx>
          <c:spPr>
            <a:solidFill>
              <a:srgbClr val="1A1A1A"/>
            </a:solidFill>
            <a:ln w="3175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128.0</c:v>
                </c:pt>
                <c:pt idx="1">
                  <c:v>126.0</c:v>
                </c:pt>
                <c:pt idx="2">
                  <c:v>124.0</c:v>
                </c:pt>
                <c:pt idx="3">
                  <c:v>122.0</c:v>
                </c:pt>
                <c:pt idx="4">
                  <c:v>120.0</c:v>
                </c:pt>
                <c:pt idx="5">
                  <c:v>118.0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Egypt, Arab Rep.</c:v>
                </c:pt>
              </c:strCache>
            </c:strRef>
          </c:tx>
          <c:spPr>
            <a:solidFill>
              <a:srgbClr val="949494"/>
            </a:solidFill>
            <a:ln w="31750" cap="flat">
              <a:solidFill>
                <a:srgbClr val="94949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949494"/>
              </a:solidFill>
              <a:ln w="9525" cap="flat">
                <a:solidFill>
                  <a:srgbClr val="94949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20.0</c:v>
                </c:pt>
                <c:pt idx="1">
                  <c:v>19.0</c:v>
                </c:pt>
                <c:pt idx="2">
                  <c:v>19.0</c:v>
                </c:pt>
                <c:pt idx="3">
                  <c:v>18.0</c:v>
                </c:pt>
                <c:pt idx="4">
                  <c:v>18.0</c:v>
                </c:pt>
                <c:pt idx="5">
                  <c:v>17.0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424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MMR per 100,000 live births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4242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MMR (2023) by Country and Income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MMR 2023</c:v>
                </c:pt>
              </c:strCache>
            </c:strRef>
          </c:tx>
          <c:spPr>
            <a:solidFill>
              <a:srgbClr val="5E628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E62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62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628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E628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B27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E6286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2424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Nigeria</c:v>
                </c:pt>
                <c:pt idx="1">
                  <c:v>Ghana</c:v>
                </c:pt>
                <c:pt idx="2">
                  <c:v>Ethiopia</c:v>
                </c:pt>
                <c:pt idx="3">
                  <c:v>Angola</c:v>
                </c:pt>
                <c:pt idx="4">
                  <c:v>Kenya</c:v>
                </c:pt>
                <c:pt idx="5">
                  <c:v>South Africa</c:v>
                </c:pt>
                <c:pt idx="6">
                  <c:v>Egypt, Arab Rep.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993.0</c:v>
                </c:pt>
                <c:pt idx="1">
                  <c:v>234.0</c:v>
                </c:pt>
                <c:pt idx="2">
                  <c:v>195.0</c:v>
                </c:pt>
                <c:pt idx="3">
                  <c:v>183.0</c:v>
                </c:pt>
                <c:pt idx="4">
                  <c:v>149.0</c:v>
                </c:pt>
                <c:pt idx="5">
                  <c:v>118.0</c:v>
                </c:pt>
                <c:pt idx="6">
                  <c:v>17.0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0" i="0" u="none" strike="noStrike">
                  <a:solidFill>
                    <a:srgbClr val="2424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24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4242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Nigeria vs. Benchmarks (2023)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MMR (2023)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62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6286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2424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Nigeria</c:v>
                </c:pt>
                <c:pt idx="1">
                  <c:v>Sub-Saharan
Africa Avg</c:v>
                </c:pt>
                <c:pt idx="2">
                  <c:v>Lower-Middle-
Income Peer Avg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993.0</c:v>
                </c:pt>
                <c:pt idx="1">
                  <c:v>312.0</c:v>
                </c:pt>
                <c:pt idx="2">
                  <c:v>315.2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2424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24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4242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% Change in MMR, 2018-2023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Change MMR</c:v>
                </c:pt>
              </c:strCache>
            </c:strRef>
          </c:tx>
          <c:spPr>
            <a:solidFill>
              <a:srgbClr val="5E62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2424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South Africa</c:v>
                </c:pt>
                <c:pt idx="1">
                  <c:v>Nigeria</c:v>
                </c:pt>
                <c:pt idx="2">
                  <c:v>Angola</c:v>
                </c:pt>
                <c:pt idx="3">
                  <c:v>Egypt, Arab Rep.</c:v>
                </c:pt>
                <c:pt idx="4">
                  <c:v>Ghana</c:v>
                </c:pt>
                <c:pt idx="5">
                  <c:v>Kenya</c:v>
                </c:pt>
                <c:pt idx="6">
                  <c:v>Ethiopia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-7.81</c:v>
                </c:pt>
                <c:pt idx="1">
                  <c:v>-11.18</c:v>
                </c:pt>
                <c:pt idx="2">
                  <c:v>-12.02</c:v>
                </c:pt>
                <c:pt idx="3">
                  <c:v>-15.0</c:v>
                </c:pt>
                <c:pt idx="4">
                  <c:v>-15.22</c:v>
                </c:pt>
                <c:pt idx="5">
                  <c:v>-18.58</c:v>
                </c:pt>
                <c:pt idx="6">
                  <c:v>-34.34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0" i="0" u="none" strike="noStrike">
                  <a:solidFill>
                    <a:srgbClr val="2424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42424"/>
                </a:solidFill>
                <a:latin typeface="Arial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4242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2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72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8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6286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0"/>
          <p:cNvSpPr txBox="1"/>
          <p:nvPr/>
        </p:nvSpPr>
        <p:spPr>
          <a:xfrm>
            <a:off x="731520" y="2103120"/>
            <a:ext cx="10698480" cy="1645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ts val="4000"/>
              </a:lnSpc>
              <a:buNone/>
            </a:pPr>
            <a:r>
              <a:rPr b="1" dirty="0" sz="34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MATERNAL MORTALITY IN</a:t>
            </a:r>
            <a:endParaRPr dirty="0" sz="3400" lang="en-US"/>
          </a:p>
          <a:p>
            <a:pPr indent="0" marL="0">
              <a:lnSpc>
                <a:spcPts val="4000"/>
              </a:lnSpc>
              <a:buNone/>
            </a:pPr>
            <a:r>
              <a:rPr b="1" dirty="0" sz="34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SELECTED AFRICAN COUNTRIES</a:t>
            </a:r>
            <a:endParaRPr dirty="0" sz="3400" lang="en-US"/>
          </a:p>
        </p:txBody>
      </p:sp>
      <p:sp>
        <p:nvSpPr>
          <p:cNvPr id="1048577" name="Text 1"/>
          <p:cNvSpPr txBox="1"/>
          <p:nvPr/>
        </p:nvSpPr>
        <p:spPr>
          <a:xfrm>
            <a:off x="731520" y="3703320"/>
            <a:ext cx="1069848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800" i="1" lang="en-US">
                <a:solidFill>
                  <a:srgbClr val="C7C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Nigeria's Outlier Status (2018-2023)</a:t>
            </a:r>
            <a:endParaRPr dirty="0" sz="1800" lang="en-US"/>
          </a:p>
        </p:txBody>
      </p:sp>
      <p:sp>
        <p:nvSpPr>
          <p:cNvPr id="1048578" name="Text 2"/>
          <p:cNvSpPr txBox="1"/>
          <p:nvPr/>
        </p:nvSpPr>
        <p:spPr>
          <a:xfrm>
            <a:off x="731520" y="4206240"/>
            <a:ext cx="106984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E1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Project</a:t>
            </a:r>
            <a:endParaRPr dirty="0" sz="1400" lang="en-US"/>
          </a:p>
        </p:txBody>
      </p:sp>
      <p:sp>
        <p:nvSpPr>
          <p:cNvPr id="1048579" name="Text 3"/>
          <p:cNvSpPr txBox="1"/>
          <p:nvPr/>
        </p:nvSpPr>
        <p:spPr>
          <a:xfrm>
            <a:off x="731520" y="6035040"/>
            <a:ext cx="54864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C7C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Mercy Dalhatu</a:t>
            </a:r>
            <a:endParaRPr dirty="0" sz="1200" lang="en-US"/>
          </a:p>
        </p:txBody>
      </p:sp>
      <p:sp>
        <p:nvSpPr>
          <p:cNvPr id="1048580" name="Text 4"/>
          <p:cNvSpPr txBox="1"/>
          <p:nvPr/>
        </p:nvSpPr>
        <p:spPr>
          <a:xfrm>
            <a:off x="731520" y="6355080"/>
            <a:ext cx="73152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endParaRPr dirty="0" sz="12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8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 0"/>
          <p:cNvSpPr txBox="1"/>
          <p:nvPr/>
        </p:nvSpPr>
        <p:spPr>
          <a:xfrm>
            <a:off x="640080" y="411480"/>
            <a:ext cx="91440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dirty="0" sz="1100" lang="en-US"/>
          </a:p>
        </p:txBody>
      </p:sp>
      <p:sp>
        <p:nvSpPr>
          <p:cNvPr id="1048585" name="Text 1"/>
          <p:cNvSpPr txBox="1"/>
          <p:nvPr/>
        </p:nvSpPr>
        <p:spPr>
          <a:xfrm>
            <a:off x="640080" y="713232"/>
            <a:ext cx="108813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5E628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Maternal Mortality Matters</a:t>
            </a:r>
            <a:endParaRPr dirty="0" sz="2600" lang="en-US"/>
          </a:p>
        </p:txBody>
      </p:sp>
      <p:sp>
        <p:nvSpPr>
          <p:cNvPr id="1048586" name="Shape 2"/>
          <p:cNvSpPr/>
          <p:nvPr/>
        </p:nvSpPr>
        <p:spPr>
          <a:xfrm>
            <a:off x="685800" y="1810512"/>
            <a:ext cx="109728" cy="109728"/>
          </a:xfrm>
          <a:prstGeom prst="rect"/>
          <a:solidFill>
            <a:srgbClr val="D64550"/>
          </a:solidFill>
        </p:spPr>
      </p:sp>
      <p:sp>
        <p:nvSpPr>
          <p:cNvPr id="1048587" name="Text 3"/>
          <p:cNvSpPr txBox="1"/>
          <p:nvPr/>
        </p:nvSpPr>
        <p:spPr>
          <a:xfrm>
            <a:off x="960120" y="1737360"/>
            <a:ext cx="1042416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mortality measures how many mothers die from pregnancy or childbirth-related causes, per 100,000 live births.</a:t>
            </a:r>
            <a:endParaRPr dirty="0" sz="1500" lang="en-US"/>
          </a:p>
        </p:txBody>
      </p:sp>
      <p:sp>
        <p:nvSpPr>
          <p:cNvPr id="1048588" name="Shape 4"/>
          <p:cNvSpPr/>
          <p:nvPr/>
        </p:nvSpPr>
        <p:spPr>
          <a:xfrm>
            <a:off x="685800" y="2587752"/>
            <a:ext cx="109728" cy="109728"/>
          </a:xfrm>
          <a:prstGeom prst="rect"/>
          <a:solidFill>
            <a:srgbClr val="D64550"/>
          </a:solidFill>
        </p:spPr>
      </p:sp>
      <p:sp>
        <p:nvSpPr>
          <p:cNvPr id="1048589" name="Text 5"/>
          <p:cNvSpPr txBox="1"/>
          <p:nvPr/>
        </p:nvSpPr>
        <p:spPr>
          <a:xfrm>
            <a:off x="960120" y="2514600"/>
            <a:ext cx="1042416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one of the clearest signals of how well a country's health system supports women.</a:t>
            </a:r>
            <a:endParaRPr dirty="0" sz="1500" lang="en-US"/>
          </a:p>
        </p:txBody>
      </p:sp>
      <p:sp>
        <p:nvSpPr>
          <p:cNvPr id="1048590" name="Shape 6"/>
          <p:cNvSpPr/>
          <p:nvPr/>
        </p:nvSpPr>
        <p:spPr>
          <a:xfrm>
            <a:off x="685800" y="3364992"/>
            <a:ext cx="109728" cy="109728"/>
          </a:xfrm>
          <a:prstGeom prst="rect"/>
          <a:solidFill>
            <a:srgbClr val="D64550"/>
          </a:solidFill>
        </p:spPr>
      </p:sp>
      <p:sp>
        <p:nvSpPr>
          <p:cNvPr id="1048591" name="Text 7"/>
          <p:cNvSpPr txBox="1"/>
          <p:nvPr/>
        </p:nvSpPr>
        <p:spPr>
          <a:xfrm>
            <a:off x="960120" y="3291840"/>
            <a:ext cx="10424160" cy="6858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countries over time — and against peers at similar income levels — helps show whether progress is happening fast enough, and where.</a:t>
            </a:r>
            <a:endParaRPr dirty="0" sz="1500" lang="en-US"/>
          </a:p>
        </p:txBody>
      </p:sp>
      <p:sp>
        <p:nvSpPr>
          <p:cNvPr id="1048592" name="Shape 8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1E1EF"/>
          </a:solidFill>
        </p:spPr>
      </p:sp>
      <p:sp>
        <p:nvSpPr>
          <p:cNvPr id="1048593" name="Text 9"/>
          <p:cNvSpPr txBox="1"/>
          <p:nvPr/>
        </p:nvSpPr>
        <p:spPr>
          <a:xfrm>
            <a:off x="914400" y="5074920"/>
            <a:ext cx="10332720" cy="12344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i="1" lang="en-US">
                <a:solidFill>
                  <a:srgbClr val="404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checks how MMR changed across 7 African countries between 2018 and 2023, and looks closely at why Nigeria remains so far ahead of the rest.</a:t>
            </a:r>
            <a:endParaRPr dirty="0" sz="14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8"/>
        </a:soli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ext 0"/>
          <p:cNvSpPr txBox="1"/>
          <p:nvPr/>
        </p:nvSpPr>
        <p:spPr>
          <a:xfrm>
            <a:off x="640080" y="411480"/>
            <a:ext cx="91440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ANSWER</a:t>
            </a:r>
            <a:endParaRPr dirty="0" sz="1100" lang="en-US"/>
          </a:p>
        </p:txBody>
      </p:sp>
      <p:sp>
        <p:nvSpPr>
          <p:cNvPr id="1048598" name="Text 1"/>
          <p:cNvSpPr txBox="1"/>
          <p:nvPr/>
        </p:nvSpPr>
        <p:spPr>
          <a:xfrm>
            <a:off x="640080" y="713232"/>
            <a:ext cx="108813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5E628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Questions</a:t>
            </a:r>
            <a:endParaRPr dirty="0" sz="2600" lang="en-US"/>
          </a:p>
        </p:txBody>
      </p:sp>
      <p:sp>
        <p:nvSpPr>
          <p:cNvPr id="1048599" name="Shape 2"/>
          <p:cNvSpPr/>
          <p:nvPr/>
        </p:nvSpPr>
        <p:spPr>
          <a:xfrm>
            <a:off x="6858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E6286"/>
          </a:solidFill>
        </p:spPr>
      </p:sp>
      <p:sp>
        <p:nvSpPr>
          <p:cNvPr id="1048600" name="Text 3"/>
          <p:cNvSpPr txBox="1"/>
          <p:nvPr/>
        </p:nvSpPr>
        <p:spPr>
          <a:xfrm>
            <a:off x="685800" y="182880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dirty="0" sz="1800" lang="en-US"/>
          </a:p>
        </p:txBody>
      </p:sp>
      <p:sp>
        <p:nvSpPr>
          <p:cNvPr id="1048601" name="Text 4"/>
          <p:cNvSpPr txBox="1"/>
          <p:nvPr/>
        </p:nvSpPr>
        <p:spPr>
          <a:xfrm>
            <a:off x="1417320" y="1810512"/>
            <a:ext cx="9966960" cy="7772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MMR change for each of the 7 countries between 2018 and 2023?</a:t>
            </a:r>
            <a:endParaRPr dirty="0" sz="1500" lang="en-US"/>
          </a:p>
        </p:txBody>
      </p:sp>
      <p:sp>
        <p:nvSpPr>
          <p:cNvPr id="1048602" name="Shape 5"/>
          <p:cNvSpPr/>
          <p:nvPr/>
        </p:nvSpPr>
        <p:spPr>
          <a:xfrm>
            <a:off x="685800" y="2788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E6286"/>
          </a:solidFill>
        </p:spPr>
      </p:sp>
      <p:sp>
        <p:nvSpPr>
          <p:cNvPr id="1048603" name="Text 6"/>
          <p:cNvSpPr txBox="1"/>
          <p:nvPr/>
        </p:nvSpPr>
        <p:spPr>
          <a:xfrm>
            <a:off x="685800" y="278892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dirty="0" sz="1800" lang="en-US"/>
          </a:p>
        </p:txBody>
      </p:sp>
      <p:sp>
        <p:nvSpPr>
          <p:cNvPr id="1048604" name="Text 7"/>
          <p:cNvSpPr txBox="1"/>
          <p:nvPr/>
        </p:nvSpPr>
        <p:spPr>
          <a:xfrm>
            <a:off x="1417320" y="2770632"/>
            <a:ext cx="9966960" cy="7772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relationship between income group and maternal mortality outcomes?</a:t>
            </a:r>
            <a:endParaRPr dirty="0" sz="1500" lang="en-US"/>
          </a:p>
        </p:txBody>
      </p:sp>
      <p:sp>
        <p:nvSpPr>
          <p:cNvPr id="1048605" name="Shape 8"/>
          <p:cNvSpPr/>
          <p:nvPr/>
        </p:nvSpPr>
        <p:spPr>
          <a:xfrm>
            <a:off x="685800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E6286"/>
          </a:solidFill>
        </p:spPr>
      </p:sp>
      <p:sp>
        <p:nvSpPr>
          <p:cNvPr id="1048606" name="Text 9"/>
          <p:cNvSpPr txBox="1"/>
          <p:nvPr/>
        </p:nvSpPr>
        <p:spPr>
          <a:xfrm>
            <a:off x="685800" y="374904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dirty="0" sz="1800" lang="en-US"/>
          </a:p>
        </p:txBody>
      </p:sp>
      <p:sp>
        <p:nvSpPr>
          <p:cNvPr id="1048607" name="Text 10"/>
          <p:cNvSpPr txBox="1"/>
          <p:nvPr/>
        </p:nvSpPr>
        <p:spPr>
          <a:xfrm>
            <a:off x="1417320" y="3730752"/>
            <a:ext cx="9966960" cy="7772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Nigeria's MMR compare to the Sub-Saharan Africa regional average and to its income-level peers?</a:t>
            </a:r>
            <a:endParaRPr dirty="0" sz="1500" lang="en-US"/>
          </a:p>
        </p:txBody>
      </p:sp>
      <p:sp>
        <p:nvSpPr>
          <p:cNvPr id="1048608" name="Shape 11"/>
          <p:cNvSpPr/>
          <p:nvPr/>
        </p:nvSpPr>
        <p:spPr>
          <a:xfrm>
            <a:off x="685800" y="4709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E6286"/>
          </a:solidFill>
        </p:spPr>
      </p:sp>
      <p:sp>
        <p:nvSpPr>
          <p:cNvPr id="1048609" name="Text 12"/>
          <p:cNvSpPr txBox="1"/>
          <p:nvPr/>
        </p:nvSpPr>
        <p:spPr>
          <a:xfrm>
            <a:off x="685800" y="4709160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dirty="0" sz="1800" lang="en-US"/>
          </a:p>
        </p:txBody>
      </p:sp>
      <p:sp>
        <p:nvSpPr>
          <p:cNvPr id="1048610" name="Text 13"/>
          <p:cNvSpPr txBox="1"/>
          <p:nvPr/>
        </p:nvSpPr>
        <p:spPr>
          <a:xfrm>
            <a:off x="1417320" y="4690872"/>
            <a:ext cx="9966960" cy="7772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country improved the most (or least), and what does that suggest about what's driving change?</a:t>
            </a:r>
            <a:endParaRPr dirty="0" sz="15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8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ext 0"/>
          <p:cNvSpPr txBox="1"/>
          <p:nvPr/>
        </p:nvSpPr>
        <p:spPr>
          <a:xfrm>
            <a:off x="640080" y="411480"/>
            <a:ext cx="91440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OUR ANSWERS</a:t>
            </a:r>
            <a:endParaRPr dirty="0" sz="1100" lang="en-US"/>
          </a:p>
        </p:txBody>
      </p:sp>
      <p:sp>
        <p:nvSpPr>
          <p:cNvPr id="1048615" name="Text 1"/>
          <p:cNvSpPr txBox="1"/>
          <p:nvPr/>
        </p:nvSpPr>
        <p:spPr>
          <a:xfrm>
            <a:off x="640080" y="713232"/>
            <a:ext cx="108813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5E628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Methodology</a:t>
            </a:r>
            <a:endParaRPr dirty="0" sz="2600" lang="en-US"/>
          </a:p>
        </p:txBody>
      </p:sp>
      <p:sp>
        <p:nvSpPr>
          <p:cNvPr id="1048616" name="Shape 2"/>
          <p:cNvSpPr/>
          <p:nvPr/>
        </p:nvSpPr>
        <p:spPr>
          <a:xfrm>
            <a:off x="640080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1EF"/>
            </a:solidFill>
            <a:prstDash val="solid"/>
          </a:ln>
          <a:effectLst>
            <a:outerShdw algn="bl" blurRad="76200" dir="5400000" dist="25400" kx="0" ky="0" rotWithShape="0" sx="100000" sy="100000">
              <a:srgbClr val="888888">
                <a:alpha val="25000"/>
              </a:srgbClr>
            </a:outerShdw>
          </a:effectLst>
        </p:spPr>
      </p:sp>
      <p:sp>
        <p:nvSpPr>
          <p:cNvPr id="1048617" name="Shape 3"/>
          <p:cNvSpPr/>
          <p:nvPr/>
        </p:nvSpPr>
        <p:spPr>
          <a:xfrm>
            <a:off x="640080" y="1828800"/>
            <a:ext cx="3502152" cy="548640"/>
          </a:xfrm>
          <a:prstGeom prst="roundRect">
            <a:avLst>
              <a:gd name="adj" fmla="val 16667"/>
            </a:avLst>
          </a:prstGeom>
          <a:solidFill>
            <a:srgbClr val="5E6286"/>
          </a:solidFill>
        </p:spPr>
      </p:sp>
      <p:sp>
        <p:nvSpPr>
          <p:cNvPr id="1048618" name="Shape 4"/>
          <p:cNvSpPr/>
          <p:nvPr/>
        </p:nvSpPr>
        <p:spPr>
          <a:xfrm>
            <a:off x="640080" y="2103120"/>
            <a:ext cx="3502152" cy="274320"/>
          </a:xfrm>
          <a:prstGeom prst="rect"/>
          <a:solidFill>
            <a:srgbClr val="5E6286"/>
          </a:solidFill>
        </p:spPr>
      </p:sp>
      <p:sp>
        <p:nvSpPr>
          <p:cNvPr id="1048619" name="Text 5"/>
          <p:cNvSpPr txBox="1"/>
          <p:nvPr/>
        </p:nvSpPr>
        <p:spPr>
          <a:xfrm>
            <a:off x="640080" y="1828800"/>
            <a:ext cx="3502152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</a:t>
            </a:r>
            <a:endParaRPr dirty="0" sz="1500" lang="en-US"/>
          </a:p>
        </p:txBody>
      </p:sp>
      <p:sp>
        <p:nvSpPr>
          <p:cNvPr id="1048620" name="Text 6"/>
          <p:cNvSpPr txBox="1"/>
          <p:nvPr/>
        </p:nvSpPr>
        <p:spPr>
          <a:xfrm>
            <a:off x="868680" y="2560320"/>
            <a:ext cx="3044952" cy="23774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maternal mortality ratio data (SH.STA.MMRT), narrowed to 2018-2023 and 7 countries: Angola, Egypt, Ethiopia, Ghana, Kenya, Nigeria, South Africa.</a:t>
            </a:r>
            <a:endParaRPr dirty="0" sz="1300" lang="en-US"/>
          </a:p>
        </p:txBody>
      </p:sp>
      <p:sp>
        <p:nvSpPr>
          <p:cNvPr id="1048621" name="Shape 7"/>
          <p:cNvSpPr/>
          <p:nvPr/>
        </p:nvSpPr>
        <p:spPr>
          <a:xfrm>
            <a:off x="4416552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1EF"/>
            </a:solidFill>
            <a:prstDash val="solid"/>
          </a:ln>
          <a:effectLst>
            <a:outerShdw algn="bl" blurRad="76200" dir="5400000" dist="25400" kx="0" ky="0" rotWithShape="0" sx="100000" sy="100000">
              <a:srgbClr val="888888">
                <a:alpha val="25000"/>
              </a:srgbClr>
            </a:outerShdw>
          </a:effectLst>
        </p:spPr>
      </p:sp>
      <p:sp>
        <p:nvSpPr>
          <p:cNvPr id="1048622" name="Shape 8"/>
          <p:cNvSpPr/>
          <p:nvPr/>
        </p:nvSpPr>
        <p:spPr>
          <a:xfrm>
            <a:off x="4416552" y="1828800"/>
            <a:ext cx="3502152" cy="548640"/>
          </a:xfrm>
          <a:prstGeom prst="roundRect">
            <a:avLst>
              <a:gd name="adj" fmla="val 16667"/>
            </a:avLst>
          </a:prstGeom>
          <a:solidFill>
            <a:srgbClr val="5E6286"/>
          </a:solidFill>
        </p:spPr>
      </p:sp>
      <p:sp>
        <p:nvSpPr>
          <p:cNvPr id="1048623" name="Shape 9"/>
          <p:cNvSpPr/>
          <p:nvPr/>
        </p:nvSpPr>
        <p:spPr>
          <a:xfrm>
            <a:off x="4416552" y="2103120"/>
            <a:ext cx="3502152" cy="274320"/>
          </a:xfrm>
          <a:prstGeom prst="rect"/>
          <a:solidFill>
            <a:srgbClr val="5E6286"/>
          </a:solidFill>
        </p:spPr>
      </p:sp>
      <p:sp>
        <p:nvSpPr>
          <p:cNvPr id="1048624" name="Text 10"/>
          <p:cNvSpPr txBox="1"/>
          <p:nvPr/>
        </p:nvSpPr>
        <p:spPr>
          <a:xfrm>
            <a:off x="4416552" y="1828800"/>
            <a:ext cx="3502152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CLEANING</a:t>
            </a:r>
            <a:endParaRPr dirty="0" sz="1500" lang="en-US"/>
          </a:p>
        </p:txBody>
      </p:sp>
      <p:sp>
        <p:nvSpPr>
          <p:cNvPr id="1048625" name="Text 11"/>
          <p:cNvSpPr txBox="1"/>
          <p:nvPr/>
        </p:nvSpPr>
        <p:spPr>
          <a:xfrm>
            <a:off x="4645152" y="2560320"/>
            <a:ext cx="3044952" cy="23774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unpivoted from a wide year-by-year format into a long format (Country, Region, Income Group, Year, MMR) to allow trend and comparison analysis.</a:t>
            </a:r>
            <a:endParaRPr dirty="0" sz="1300" lang="en-US"/>
          </a:p>
        </p:txBody>
      </p:sp>
      <p:sp>
        <p:nvSpPr>
          <p:cNvPr id="1048626" name="Shape 12"/>
          <p:cNvSpPr/>
          <p:nvPr/>
        </p:nvSpPr>
        <p:spPr>
          <a:xfrm>
            <a:off x="8193024" y="1828800"/>
            <a:ext cx="350215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1EF"/>
            </a:solidFill>
            <a:prstDash val="solid"/>
          </a:ln>
          <a:effectLst>
            <a:outerShdw algn="bl" blurRad="76200" dir="5400000" dist="25400" kx="0" ky="0" rotWithShape="0" sx="100000" sy="100000">
              <a:srgbClr val="888888">
                <a:alpha val="25000"/>
              </a:srgbClr>
            </a:outerShdw>
          </a:effectLst>
        </p:spPr>
      </p:sp>
      <p:sp>
        <p:nvSpPr>
          <p:cNvPr id="1048627" name="Shape 13"/>
          <p:cNvSpPr/>
          <p:nvPr/>
        </p:nvSpPr>
        <p:spPr>
          <a:xfrm>
            <a:off x="8193024" y="1828800"/>
            <a:ext cx="3502152" cy="548640"/>
          </a:xfrm>
          <a:prstGeom prst="roundRect">
            <a:avLst>
              <a:gd name="adj" fmla="val 16667"/>
            </a:avLst>
          </a:prstGeom>
          <a:solidFill>
            <a:srgbClr val="5E6286"/>
          </a:solidFill>
        </p:spPr>
      </p:sp>
      <p:sp>
        <p:nvSpPr>
          <p:cNvPr id="1048628" name="Shape 14"/>
          <p:cNvSpPr/>
          <p:nvPr/>
        </p:nvSpPr>
        <p:spPr>
          <a:xfrm>
            <a:off x="8193024" y="2103120"/>
            <a:ext cx="3502152" cy="274320"/>
          </a:xfrm>
          <a:prstGeom prst="rect"/>
          <a:solidFill>
            <a:srgbClr val="5E6286"/>
          </a:solidFill>
        </p:spPr>
      </p:sp>
      <p:sp>
        <p:nvSpPr>
          <p:cNvPr id="1048629" name="Text 15"/>
          <p:cNvSpPr txBox="1"/>
          <p:nvPr/>
        </p:nvSpPr>
        <p:spPr>
          <a:xfrm>
            <a:off x="8193024" y="1828800"/>
            <a:ext cx="3502152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ANALYSIS</a:t>
            </a:r>
            <a:endParaRPr dirty="0" sz="1500" lang="en-US"/>
          </a:p>
        </p:txBody>
      </p:sp>
      <p:sp>
        <p:nvSpPr>
          <p:cNvPr id="1048630" name="Text 16"/>
          <p:cNvSpPr txBox="1"/>
          <p:nvPr/>
        </p:nvSpPr>
        <p:spPr>
          <a:xfrm>
            <a:off x="8421624" y="2560320"/>
            <a:ext cx="3044952" cy="23774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and filters in Power BI compared MMR by year, country, income group, and region; results were visualized across a 2-page dashboard.</a:t>
            </a:r>
            <a:endParaRPr dirty="0" sz="1300" lang="en-US"/>
          </a:p>
        </p:txBody>
      </p:sp>
      <p:sp>
        <p:nvSpPr>
          <p:cNvPr id="1048631" name="Text 17"/>
          <p:cNvSpPr txBox="1"/>
          <p:nvPr/>
        </p:nvSpPr>
        <p:spPr>
          <a:xfrm>
            <a:off x="640080" y="5486400"/>
            <a:ext cx="108813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i="1" lang="en-US">
                <a:solidFill>
                  <a:srgbClr val="A6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7 countries  •  6 years (2018-2023)  •  6 fields per record</a:t>
            </a:r>
            <a:endParaRPr dirty="0" sz="12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E6286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ext 0"/>
          <p:cNvSpPr txBox="1"/>
          <p:nvPr/>
        </p:nvSpPr>
        <p:spPr>
          <a:xfrm>
            <a:off x="640080" y="502920"/>
            <a:ext cx="91440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NUMBERS</a:t>
            </a:r>
            <a:endParaRPr dirty="0" sz="1200" lang="en-US"/>
          </a:p>
        </p:txBody>
      </p:sp>
      <p:sp>
        <p:nvSpPr>
          <p:cNvPr id="1048636" name="Text 1"/>
          <p:cNvSpPr txBox="1"/>
          <p:nvPr/>
        </p:nvSpPr>
        <p:spPr>
          <a:xfrm>
            <a:off x="640080" y="1463040"/>
            <a:ext cx="2606040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rgbClr val="D645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297.31</a:t>
            </a:r>
            <a:endParaRPr dirty="0" sz="4000" lang="en-US"/>
          </a:p>
        </p:txBody>
      </p:sp>
      <p:sp>
        <p:nvSpPr>
          <p:cNvPr id="1048637" name="Text 2"/>
          <p:cNvSpPr txBox="1"/>
          <p:nvPr/>
        </p:nvSpPr>
        <p:spPr>
          <a:xfrm>
            <a:off x="640080" y="2514600"/>
            <a:ext cx="2606040" cy="7315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E1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MMR across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E1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countries and years</a:t>
            </a:r>
            <a:endParaRPr dirty="0" sz="1200" lang="en-US"/>
          </a:p>
        </p:txBody>
      </p:sp>
      <p:sp>
        <p:nvSpPr>
          <p:cNvPr id="1048638" name="Text 3"/>
          <p:cNvSpPr txBox="1"/>
          <p:nvPr/>
        </p:nvSpPr>
        <p:spPr>
          <a:xfrm>
            <a:off x="3474720" y="1463040"/>
            <a:ext cx="2606040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rgbClr val="D645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-15.29%</a:t>
            </a:r>
            <a:endParaRPr dirty="0" sz="4000" lang="en-US"/>
          </a:p>
        </p:txBody>
      </p:sp>
      <p:sp>
        <p:nvSpPr>
          <p:cNvPr id="1048639" name="Text 4"/>
          <p:cNvSpPr txBox="1"/>
          <p:nvPr/>
        </p:nvSpPr>
        <p:spPr>
          <a:xfrm>
            <a:off x="3474720" y="2514600"/>
            <a:ext cx="2606040" cy="7315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E1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 change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E1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MMR, 2018-2023</a:t>
            </a:r>
            <a:endParaRPr dirty="0" sz="1200" lang="en-US"/>
          </a:p>
        </p:txBody>
      </p:sp>
      <p:sp>
        <p:nvSpPr>
          <p:cNvPr id="1048640" name="Text 5"/>
          <p:cNvSpPr txBox="1"/>
          <p:nvPr/>
        </p:nvSpPr>
        <p:spPr>
          <a:xfrm>
            <a:off x="6309360" y="1463040"/>
            <a:ext cx="2606040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rgbClr val="D645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993</a:t>
            </a:r>
            <a:endParaRPr dirty="0" sz="4000" lang="en-US"/>
          </a:p>
        </p:txBody>
      </p:sp>
      <p:sp>
        <p:nvSpPr>
          <p:cNvPr id="1048641" name="Text 6"/>
          <p:cNvSpPr txBox="1"/>
          <p:nvPr/>
        </p:nvSpPr>
        <p:spPr>
          <a:xfrm>
            <a:off x="6309360" y="2514600"/>
            <a:ext cx="2606040" cy="7315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E1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2023 MMR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E1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in the dataset)</a:t>
            </a:r>
            <a:endParaRPr dirty="0" sz="1200" lang="en-US"/>
          </a:p>
        </p:txBody>
      </p:sp>
      <p:sp>
        <p:nvSpPr>
          <p:cNvPr id="1048642" name="Text 7"/>
          <p:cNvSpPr txBox="1"/>
          <p:nvPr/>
        </p:nvSpPr>
        <p:spPr>
          <a:xfrm>
            <a:off x="9144000" y="1463040"/>
            <a:ext cx="2606040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rgbClr val="D645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312</a:t>
            </a:r>
            <a:endParaRPr dirty="0" sz="4000" lang="en-US"/>
          </a:p>
        </p:txBody>
      </p:sp>
      <p:sp>
        <p:nvSpPr>
          <p:cNvPr id="1048643" name="Text 8"/>
          <p:cNvSpPr txBox="1"/>
          <p:nvPr/>
        </p:nvSpPr>
        <p:spPr>
          <a:xfrm>
            <a:off x="9144000" y="2514600"/>
            <a:ext cx="2606040" cy="7315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E1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E1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average (2023)</a:t>
            </a:r>
            <a:endParaRPr dirty="0" sz="1200" lang="en-US"/>
          </a:p>
        </p:txBody>
      </p:sp>
      <p:sp>
        <p:nvSpPr>
          <p:cNvPr id="1048644" name="Shape 9"/>
          <p:cNvSpPr/>
          <p:nvPr/>
        </p:nvSpPr>
        <p:spPr>
          <a:xfrm>
            <a:off x="640080" y="39319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40435F"/>
          </a:solidFill>
        </p:spPr>
      </p:sp>
      <p:sp>
        <p:nvSpPr>
          <p:cNvPr id="1048645" name="Text 10"/>
          <p:cNvSpPr txBox="1"/>
          <p:nvPr/>
        </p:nvSpPr>
        <p:spPr>
          <a:xfrm>
            <a:off x="914400" y="3931920"/>
            <a:ext cx="10332720" cy="10058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500" i="1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studied improved  but Nigeria's MMR is still more than 3x the regional average.</a:t>
            </a:r>
            <a:endParaRPr dirty="0" sz="15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8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ext 0"/>
          <p:cNvSpPr txBox="1"/>
          <p:nvPr/>
        </p:nvSpPr>
        <p:spPr>
          <a:xfrm>
            <a:off x="640080" y="411480"/>
            <a:ext cx="91440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OF 4</a:t>
            </a:r>
            <a:endParaRPr dirty="0" sz="1100" lang="en-US"/>
          </a:p>
        </p:txBody>
      </p:sp>
      <p:sp>
        <p:nvSpPr>
          <p:cNvPr id="1048650" name="Text 1"/>
          <p:cNvSpPr txBox="1"/>
          <p:nvPr/>
        </p:nvSpPr>
        <p:spPr>
          <a:xfrm>
            <a:off x="640080" y="713232"/>
            <a:ext cx="108813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5E628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MMR Trends by Country (2018-2023)</a:t>
            </a:r>
            <a:endParaRPr dirty="0" sz="2600" lang="en-US"/>
          </a:p>
        </p:txBody>
      </p:sp>
      <p:graphicFrame>
        <p:nvGraphicFramePr>
          <p:cNvPr id="4194304" name="Chart 0" descr=""/>
          <p:cNvGraphicFramePr>
            <a:graphicFrameLocks/>
          </p:cNvGraphicFramePr>
          <p:nvPr/>
        </p:nvGraphicFramePr>
        <p:xfrm>
          <a:off x="548640" y="169164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651" name="Shape 2"/>
          <p:cNvSpPr/>
          <p:nvPr/>
        </p:nvSpPr>
        <p:spPr>
          <a:xfrm>
            <a:off x="7818120" y="173736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1E1EF"/>
            </a:solidFill>
            <a:prstDash val="solid"/>
          </a:ln>
          <a:effectLst>
            <a:outerShdw algn="bl" blurRad="76200" dir="5400000" dist="25400" kx="0" ky="0" rotWithShape="0" sx="100000" sy="100000">
              <a:srgbClr val="888888">
                <a:alpha val="25000"/>
              </a:srgbClr>
            </a:outerShdw>
          </a:effectLst>
        </p:spPr>
      </p:sp>
      <p:sp>
        <p:nvSpPr>
          <p:cNvPr id="1048652" name="Shape 3"/>
          <p:cNvSpPr/>
          <p:nvPr/>
        </p:nvSpPr>
        <p:spPr>
          <a:xfrm>
            <a:off x="8092440" y="201168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25B279"/>
          </a:solidFill>
        </p:spPr>
      </p:sp>
      <p:sp>
        <p:nvSpPr>
          <p:cNvPr id="1048653" name="Text 4"/>
          <p:cNvSpPr txBox="1"/>
          <p:nvPr/>
        </p:nvSpPr>
        <p:spPr>
          <a:xfrm>
            <a:off x="8092440" y="2011680"/>
            <a:ext cx="3154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ALL COUNTRIES IMPROVED, AT DIFFERENT SPEEDS</a:t>
            </a:r>
            <a:endParaRPr dirty="0" sz="1300" lang="en-US"/>
          </a:p>
        </p:txBody>
      </p:sp>
      <p:sp>
        <p:nvSpPr>
          <p:cNvPr id="1048654" name="Text 5"/>
          <p:cNvSpPr txBox="1"/>
          <p:nvPr/>
        </p:nvSpPr>
        <p:spPr>
          <a:xfrm>
            <a:off x="8092440" y="2651760"/>
            <a:ext cx="3154680" cy="3017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 had the steepest drop (-34.3%), followed by Kenya (-18.6%) and Ghana (-15.2%).</a:t>
            </a: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improved the least (-7.8%), despite already having a relatively low starting MMR.</a:t>
            </a: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improved by 11.2% — but started, and ended, far above every other country in the group.</a:t>
            </a:r>
            <a:endParaRPr dirty="0" sz="135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3F8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ext 0"/>
          <p:cNvSpPr txBox="1"/>
          <p:nvPr/>
        </p:nvSpPr>
        <p:spPr>
          <a:xfrm>
            <a:off x="640080" y="411480"/>
            <a:ext cx="91440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OF 4</a:t>
            </a:r>
            <a:endParaRPr dirty="0" sz="1100" lang="en-US"/>
          </a:p>
        </p:txBody>
      </p:sp>
      <p:sp>
        <p:nvSpPr>
          <p:cNvPr id="1048659" name="Text 1"/>
          <p:cNvSpPr txBox="1"/>
          <p:nvPr/>
        </p:nvSpPr>
        <p:spPr>
          <a:xfrm>
            <a:off x="640080" y="713232"/>
            <a:ext cx="108813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5E628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Income Group and Maternal Mortality</a:t>
            </a:r>
            <a:endParaRPr dirty="0" sz="2600" lang="en-US"/>
          </a:p>
        </p:txBody>
      </p:sp>
      <p:graphicFrame>
        <p:nvGraphicFramePr>
          <p:cNvPr id="4194305" name="Chart 0" descr=""/>
          <p:cNvGraphicFramePr>
            <a:graphicFrameLocks/>
          </p:cNvGraphicFramePr>
          <p:nvPr/>
        </p:nvGraphicFramePr>
        <p:xfrm>
          <a:off x="548640" y="169164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660" name="Shape 2"/>
          <p:cNvSpPr/>
          <p:nvPr/>
        </p:nvSpPr>
        <p:spPr>
          <a:xfrm>
            <a:off x="548640" y="6108192"/>
            <a:ext cx="164592" cy="164592"/>
          </a:xfrm>
          <a:prstGeom prst="rect"/>
          <a:solidFill>
            <a:srgbClr val="D64550"/>
          </a:solidFill>
        </p:spPr>
      </p:sp>
      <p:sp>
        <p:nvSpPr>
          <p:cNvPr id="1048661" name="Text 3"/>
          <p:cNvSpPr txBox="1"/>
          <p:nvPr/>
        </p:nvSpPr>
        <p:spPr>
          <a:xfrm>
            <a:off x="777240" y="6080760"/>
            <a:ext cx="164592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</a:t>
            </a:r>
            <a:endParaRPr dirty="0" sz="1000" lang="en-US"/>
          </a:p>
        </p:txBody>
      </p:sp>
      <p:sp>
        <p:nvSpPr>
          <p:cNvPr id="1048662" name="Shape 4"/>
          <p:cNvSpPr/>
          <p:nvPr/>
        </p:nvSpPr>
        <p:spPr>
          <a:xfrm>
            <a:off x="2286000" y="6108192"/>
            <a:ext cx="164592" cy="164592"/>
          </a:xfrm>
          <a:prstGeom prst="rect"/>
          <a:solidFill>
            <a:srgbClr val="5E6286"/>
          </a:solidFill>
        </p:spPr>
      </p:sp>
      <p:sp>
        <p:nvSpPr>
          <p:cNvPr id="1048663" name="Text 5"/>
          <p:cNvSpPr txBox="1"/>
          <p:nvPr/>
        </p:nvSpPr>
        <p:spPr>
          <a:xfrm>
            <a:off x="2514600" y="6080760"/>
            <a:ext cx="237744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middle income</a:t>
            </a:r>
            <a:endParaRPr dirty="0" sz="1000" lang="en-US"/>
          </a:p>
        </p:txBody>
      </p:sp>
      <p:sp>
        <p:nvSpPr>
          <p:cNvPr id="1048664" name="Shape 6"/>
          <p:cNvSpPr/>
          <p:nvPr/>
        </p:nvSpPr>
        <p:spPr>
          <a:xfrm>
            <a:off x="5074920" y="6108192"/>
            <a:ext cx="164592" cy="164592"/>
          </a:xfrm>
          <a:prstGeom prst="rect"/>
          <a:solidFill>
            <a:srgbClr val="25B279"/>
          </a:solidFill>
        </p:spPr>
      </p:sp>
      <p:sp>
        <p:nvSpPr>
          <p:cNvPr id="1048665" name="Text 7"/>
          <p:cNvSpPr txBox="1"/>
          <p:nvPr/>
        </p:nvSpPr>
        <p:spPr>
          <a:xfrm>
            <a:off x="5303520" y="6080760"/>
            <a:ext cx="237744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middle income</a:t>
            </a:r>
            <a:endParaRPr dirty="0" sz="1000" lang="en-US"/>
          </a:p>
        </p:txBody>
      </p:sp>
      <p:sp>
        <p:nvSpPr>
          <p:cNvPr id="1048666" name="Shape 8"/>
          <p:cNvSpPr/>
          <p:nvPr/>
        </p:nvSpPr>
        <p:spPr>
          <a:xfrm>
            <a:off x="7818120" y="173736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1E1EF"/>
            </a:solidFill>
            <a:prstDash val="solid"/>
          </a:ln>
          <a:effectLst>
            <a:outerShdw algn="bl" blurRad="76200" dir="5400000" dist="25400" kx="0" ky="0" rotWithShape="0" sx="100000" sy="100000">
              <a:srgbClr val="888888">
                <a:alpha val="25000"/>
              </a:srgbClr>
            </a:outerShdw>
          </a:effectLst>
        </p:spPr>
      </p:sp>
      <p:sp>
        <p:nvSpPr>
          <p:cNvPr id="1048667" name="Shape 9"/>
          <p:cNvSpPr/>
          <p:nvPr/>
        </p:nvSpPr>
        <p:spPr>
          <a:xfrm>
            <a:off x="8092440" y="201168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D64550"/>
          </a:solidFill>
        </p:spPr>
      </p:sp>
      <p:sp>
        <p:nvSpPr>
          <p:cNvPr id="1048668" name="Text 10"/>
          <p:cNvSpPr txBox="1"/>
          <p:nvPr/>
        </p:nvSpPr>
        <p:spPr>
          <a:xfrm>
            <a:off x="8092440" y="2011680"/>
            <a:ext cx="3154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INCOME LEVEL DOESN'T EXPLAIN THE GAP</a:t>
            </a:r>
            <a:endParaRPr dirty="0" sz="1300" lang="en-US"/>
          </a:p>
        </p:txBody>
      </p:sp>
      <p:sp>
        <p:nvSpPr>
          <p:cNvPr id="1048669" name="Text 11"/>
          <p:cNvSpPr txBox="1"/>
          <p:nvPr/>
        </p:nvSpPr>
        <p:spPr>
          <a:xfrm>
            <a:off x="8092440" y="2651760"/>
            <a:ext cx="3154680" cy="3017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and Egypt are both classified as lower-middle-income — yet Nigeria's MMR (993) is over 58x higher than Egypt's (17).</a:t>
            </a: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Ethiopia, the only low-income country in the dataset, had a lower MMR (195) than three lower-middle-income countries.</a:t>
            </a: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classification alone does not predict maternal health outcomes in this data.</a:t>
            </a:r>
            <a:endParaRPr dirty="0" sz="135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8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ext 0"/>
          <p:cNvSpPr txBox="1"/>
          <p:nvPr/>
        </p:nvSpPr>
        <p:spPr>
          <a:xfrm>
            <a:off x="640080" y="411480"/>
            <a:ext cx="91440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OF 4</a:t>
            </a:r>
            <a:endParaRPr dirty="0" sz="1100" lang="en-US"/>
          </a:p>
        </p:txBody>
      </p:sp>
      <p:sp>
        <p:nvSpPr>
          <p:cNvPr id="1048674" name="Text 1"/>
          <p:cNvSpPr txBox="1"/>
          <p:nvPr/>
        </p:nvSpPr>
        <p:spPr>
          <a:xfrm>
            <a:off x="640080" y="713232"/>
            <a:ext cx="108813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5E628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Nigeria vs. Regional and Income-Peer Averages</a:t>
            </a:r>
            <a:endParaRPr dirty="0" sz="2600" lang="en-US"/>
          </a:p>
        </p:txBody>
      </p:sp>
      <p:graphicFrame>
        <p:nvGraphicFramePr>
          <p:cNvPr id="4194306" name="Chart 0" descr=""/>
          <p:cNvGraphicFramePr>
            <a:graphicFrameLocks/>
          </p:cNvGraphicFramePr>
          <p:nvPr/>
        </p:nvGraphicFramePr>
        <p:xfrm>
          <a:off x="548640" y="169164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675" name="Shape 2"/>
          <p:cNvSpPr/>
          <p:nvPr/>
        </p:nvSpPr>
        <p:spPr>
          <a:xfrm>
            <a:off x="7818120" y="173736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1E1EF"/>
            </a:solidFill>
            <a:prstDash val="solid"/>
          </a:ln>
          <a:effectLst>
            <a:outerShdw algn="bl" blurRad="76200" dir="5400000" dist="25400" kx="0" ky="0" rotWithShape="0" sx="100000" sy="100000">
              <a:srgbClr val="888888">
                <a:alpha val="25000"/>
              </a:srgbClr>
            </a:outerShdw>
          </a:effectLst>
        </p:spPr>
      </p:sp>
      <p:sp>
        <p:nvSpPr>
          <p:cNvPr id="1048676" name="Shape 3"/>
          <p:cNvSpPr/>
          <p:nvPr/>
        </p:nvSpPr>
        <p:spPr>
          <a:xfrm>
            <a:off x="8092440" y="201168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D64550"/>
          </a:solidFill>
        </p:spPr>
      </p:sp>
      <p:sp>
        <p:nvSpPr>
          <p:cNvPr id="1048677" name="Text 4"/>
          <p:cNvSpPr txBox="1"/>
          <p:nvPr/>
        </p:nvSpPr>
        <p:spPr>
          <a:xfrm>
            <a:off x="8092440" y="2011680"/>
            <a:ext cx="3154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NIGERIA IS AN OUTLIER ON BOTH FRONTS</a:t>
            </a:r>
            <a:endParaRPr dirty="0" sz="1300" lang="en-US"/>
          </a:p>
        </p:txBody>
      </p:sp>
      <p:sp>
        <p:nvSpPr>
          <p:cNvPr id="1048678" name="Text 5"/>
          <p:cNvSpPr txBox="1"/>
          <p:nvPr/>
        </p:nvSpPr>
        <p:spPr>
          <a:xfrm>
            <a:off x="8092440" y="2651760"/>
            <a:ext cx="3154680" cy="3017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MMR (993) is more than 3x the Sub-Saharan Africa average (312).</a:t>
            </a: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more than 3x the average among its own income-peer countries (315.2).</a:t>
            </a: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both benchmarks land close together (~312-315), Nigeria's gap isn't explained by region or income — something specific to Nigeria's health system is driving the difference.</a:t>
            </a:r>
            <a:endParaRPr dirty="0" sz="135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8"/>
        </a:soli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ext 0"/>
          <p:cNvSpPr txBox="1"/>
          <p:nvPr/>
        </p:nvSpPr>
        <p:spPr>
          <a:xfrm>
            <a:off x="640080" y="411480"/>
            <a:ext cx="91440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OF 4</a:t>
            </a:r>
            <a:endParaRPr dirty="0" sz="1100" lang="en-US"/>
          </a:p>
        </p:txBody>
      </p:sp>
      <p:sp>
        <p:nvSpPr>
          <p:cNvPr id="1048683" name="Text 1"/>
          <p:cNvSpPr txBox="1"/>
          <p:nvPr/>
        </p:nvSpPr>
        <p:spPr>
          <a:xfrm>
            <a:off x="640080" y="713232"/>
            <a:ext cx="108813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5E628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Rate of Improvement, Ranked</a:t>
            </a:r>
            <a:endParaRPr dirty="0" sz="2600" lang="en-US"/>
          </a:p>
        </p:txBody>
      </p:sp>
      <p:graphicFrame>
        <p:nvGraphicFramePr>
          <p:cNvPr id="4194307" name="Chart 0" descr=""/>
          <p:cNvGraphicFramePr>
            <a:graphicFrameLocks/>
          </p:cNvGraphicFramePr>
          <p:nvPr/>
        </p:nvGraphicFramePr>
        <p:xfrm>
          <a:off x="548640" y="169164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684" name="Shape 2"/>
          <p:cNvSpPr/>
          <p:nvPr/>
        </p:nvSpPr>
        <p:spPr>
          <a:xfrm>
            <a:off x="7818120" y="173736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1E1EF"/>
            </a:solidFill>
            <a:prstDash val="solid"/>
          </a:ln>
          <a:effectLst>
            <a:outerShdw algn="bl" blurRad="76200" dir="5400000" dist="25400" kx="0" ky="0" rotWithShape="0" sx="100000" sy="100000">
              <a:srgbClr val="888888">
                <a:alpha val="25000"/>
              </a:srgbClr>
            </a:outerShdw>
          </a:effectLst>
        </p:spPr>
      </p:sp>
      <p:sp>
        <p:nvSpPr>
          <p:cNvPr id="1048685" name="Shape 3"/>
          <p:cNvSpPr/>
          <p:nvPr/>
        </p:nvSpPr>
        <p:spPr>
          <a:xfrm>
            <a:off x="8092440" y="201168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25B279"/>
          </a:solidFill>
        </p:spPr>
      </p:sp>
      <p:sp>
        <p:nvSpPr>
          <p:cNvPr id="1048686" name="Text 4"/>
          <p:cNvSpPr txBox="1"/>
          <p:nvPr/>
        </p:nvSpPr>
        <p:spPr>
          <a:xfrm>
            <a:off x="8092440" y="2011680"/>
            <a:ext cx="3154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ETHIOPIA LED, SOUTH AFRICA LAGGED</a:t>
            </a:r>
            <a:endParaRPr dirty="0" sz="1300" lang="en-US"/>
          </a:p>
        </p:txBody>
      </p:sp>
      <p:sp>
        <p:nvSpPr>
          <p:cNvPr id="1048687" name="Text 5"/>
          <p:cNvSpPr txBox="1"/>
          <p:nvPr/>
        </p:nvSpPr>
        <p:spPr>
          <a:xfrm>
            <a:off x="8092440" y="2651760"/>
            <a:ext cx="3154680" cy="3017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 (-34.3%) improved nearly 3x faster than Nigeria (-11.2%), despite having far fewer economic resources.</a:t>
            </a: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(-7.8%), the wealthiest country in the group, had the slowest rate of improvement.</a:t>
            </a: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endParaRPr dirty="0" sz="1350" lang="en-US"/>
          </a:p>
          <a:p>
            <a:pPr indent="0" marL="0">
              <a:lnSpc>
                <a:spcPct val="115000"/>
              </a:lnSpc>
              <a:buNone/>
            </a:pPr>
            <a:r>
              <a:rPr dirty="0" sz="135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progress isn't tied to having more resources — it may be tied to how those resources (or policies) are used.</a:t>
            </a:r>
            <a:endParaRPr dirty="0" sz="135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3F8"/>
        </a:solidFill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ext 0"/>
          <p:cNvSpPr txBox="1"/>
          <p:nvPr/>
        </p:nvSpPr>
        <p:spPr>
          <a:xfrm>
            <a:off x="640080" y="411480"/>
            <a:ext cx="91440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DATA CAN'T TELL US</a:t>
            </a:r>
            <a:endParaRPr dirty="0" sz="1100" lang="en-US"/>
          </a:p>
        </p:txBody>
      </p:sp>
      <p:sp>
        <p:nvSpPr>
          <p:cNvPr id="1048692" name="Text 1"/>
          <p:cNvSpPr txBox="1"/>
          <p:nvPr/>
        </p:nvSpPr>
        <p:spPr>
          <a:xfrm>
            <a:off x="640080" y="713232"/>
            <a:ext cx="108813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5E628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Limitations</a:t>
            </a:r>
            <a:endParaRPr dirty="0" sz="2600" lang="en-US"/>
          </a:p>
        </p:txBody>
      </p:sp>
      <p:sp>
        <p:nvSpPr>
          <p:cNvPr id="1048693" name="Shape 2"/>
          <p:cNvSpPr/>
          <p:nvPr/>
        </p:nvSpPr>
        <p:spPr>
          <a:xfrm>
            <a:off x="685800" y="1874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64550"/>
          </a:solidFill>
        </p:spPr>
      </p:sp>
      <p:sp>
        <p:nvSpPr>
          <p:cNvPr id="1048694" name="Text 3"/>
          <p:cNvSpPr txBox="1"/>
          <p:nvPr/>
        </p:nvSpPr>
        <p:spPr>
          <a:xfrm>
            <a:off x="685800" y="187452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!</a:t>
            </a:r>
            <a:endParaRPr dirty="0" sz="2000" lang="en-US"/>
          </a:p>
        </p:txBody>
      </p:sp>
      <p:sp>
        <p:nvSpPr>
          <p:cNvPr id="1048695" name="Text 4"/>
          <p:cNvSpPr txBox="1"/>
          <p:nvPr/>
        </p:nvSpPr>
        <p:spPr>
          <a:xfrm>
            <a:off x="1325880" y="1828800"/>
            <a:ext cx="1005840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countries were studied — findings can't be generalized to the rest of the continent.</a:t>
            </a:r>
            <a:endParaRPr dirty="0" sz="1400" lang="en-US"/>
          </a:p>
        </p:txBody>
      </p:sp>
      <p:sp>
        <p:nvSpPr>
          <p:cNvPr id="1048696" name="Shape 5"/>
          <p:cNvSpPr/>
          <p:nvPr/>
        </p:nvSpPr>
        <p:spPr>
          <a:xfrm>
            <a:off x="68580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64550"/>
          </a:solidFill>
        </p:spPr>
      </p:sp>
      <p:sp>
        <p:nvSpPr>
          <p:cNvPr id="1048697" name="Text 6"/>
          <p:cNvSpPr txBox="1"/>
          <p:nvPr/>
        </p:nvSpPr>
        <p:spPr>
          <a:xfrm>
            <a:off x="685800" y="292608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!</a:t>
            </a:r>
            <a:endParaRPr dirty="0" sz="2000" lang="en-US"/>
          </a:p>
        </p:txBody>
      </p:sp>
      <p:sp>
        <p:nvSpPr>
          <p:cNvPr id="1048698" name="Text 7"/>
          <p:cNvSpPr txBox="1"/>
          <p:nvPr/>
        </p:nvSpPr>
        <p:spPr>
          <a:xfrm>
            <a:off x="1325880" y="2880360"/>
            <a:ext cx="1005840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data reflects reported figures, which can vary in accuracy and reporting methods between countries.</a:t>
            </a:r>
            <a:endParaRPr dirty="0" sz="1400" lang="en-US"/>
          </a:p>
        </p:txBody>
      </p:sp>
      <p:sp>
        <p:nvSpPr>
          <p:cNvPr id="1048699" name="Shape 8"/>
          <p:cNvSpPr/>
          <p:nvPr/>
        </p:nvSpPr>
        <p:spPr>
          <a:xfrm>
            <a:off x="685800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64550"/>
          </a:solidFill>
        </p:spPr>
      </p:sp>
      <p:sp>
        <p:nvSpPr>
          <p:cNvPr id="1048700" name="Text 9"/>
          <p:cNvSpPr txBox="1"/>
          <p:nvPr/>
        </p:nvSpPr>
        <p:spPr>
          <a:xfrm>
            <a:off x="685800" y="397764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!</a:t>
            </a:r>
            <a:endParaRPr dirty="0" sz="2000" lang="en-US"/>
          </a:p>
        </p:txBody>
      </p:sp>
      <p:sp>
        <p:nvSpPr>
          <p:cNvPr id="1048701" name="Text 10"/>
          <p:cNvSpPr txBox="1"/>
          <p:nvPr/>
        </p:nvSpPr>
        <p:spPr>
          <a:xfrm>
            <a:off x="1325880" y="3931920"/>
            <a:ext cx="1005840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doesn't include specific healthcare system indicators (e.g. skilled birth attendance rates, health spending), so the “why” behind Nigeria's gap is inferred, not directly measured.</a:t>
            </a:r>
            <a:endParaRPr dirty="0" sz="1400" lang="en-US"/>
          </a:p>
        </p:txBody>
      </p:sp>
      <p:sp>
        <p:nvSpPr>
          <p:cNvPr id="1048702" name="Shape 11"/>
          <p:cNvSpPr/>
          <p:nvPr/>
        </p:nvSpPr>
        <p:spPr>
          <a:xfrm>
            <a:off x="685800" y="5029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64550"/>
          </a:solidFill>
        </p:spPr>
      </p:sp>
      <p:sp>
        <p:nvSpPr>
          <p:cNvPr id="1048703" name="Text 12"/>
          <p:cNvSpPr txBox="1"/>
          <p:nvPr/>
        </p:nvSpPr>
        <p:spPr>
          <a:xfrm>
            <a:off x="685800" y="502920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!</a:t>
            </a:r>
            <a:endParaRPr dirty="0" sz="2000" lang="en-US"/>
          </a:p>
        </p:txBody>
      </p:sp>
      <p:sp>
        <p:nvSpPr>
          <p:cNvPr id="1048704" name="Text 13"/>
          <p:cNvSpPr txBox="1"/>
          <p:nvPr/>
        </p:nvSpPr>
        <p:spPr>
          <a:xfrm>
            <a:off x="1325880" y="4983480"/>
            <a:ext cx="1005840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show correlation, not proof of what's causing the differences.</a:t>
            </a:r>
            <a:endParaRPr dirty="0" sz="14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E6286"/>
        </a:soli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ext 0"/>
          <p:cNvSpPr txBox="1"/>
          <p:nvPr/>
        </p:nvSpPr>
        <p:spPr>
          <a:xfrm>
            <a:off x="731520" y="640080"/>
            <a:ext cx="91440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dirty="0" sz="1200" lang="en-US"/>
          </a:p>
        </p:txBody>
      </p:sp>
      <p:sp>
        <p:nvSpPr>
          <p:cNvPr id="1048709" name="Text 1"/>
          <p:cNvSpPr txBox="1"/>
          <p:nvPr/>
        </p:nvSpPr>
        <p:spPr>
          <a:xfrm>
            <a:off x="731520" y="1188720"/>
            <a:ext cx="10698480" cy="1463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lnSpc>
                <a:spcPts val="3200"/>
              </a:lnSpc>
              <a:buNone/>
            </a:pPr>
            <a:r>
              <a:rPr b="1" dirty="0" sz="26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Nigeria's maternal mortality rate remains far above both its regional and income peers and income level alone doesn't explain why.</a:t>
            </a:r>
            <a:endParaRPr dirty="0" sz="2600" lang="en-US"/>
          </a:p>
        </p:txBody>
      </p:sp>
      <p:sp>
        <p:nvSpPr>
          <p:cNvPr id="1048710" name="Shape 2"/>
          <p:cNvSpPr/>
          <p:nvPr/>
        </p:nvSpPr>
        <p:spPr>
          <a:xfrm>
            <a:off x="731520" y="292608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D64550"/>
          </a:solidFill>
        </p:spPr>
      </p:sp>
      <p:sp>
        <p:nvSpPr>
          <p:cNvPr id="1048711" name="Text 3"/>
          <p:cNvSpPr txBox="1"/>
          <p:nvPr/>
        </p:nvSpPr>
        <p:spPr>
          <a:xfrm>
            <a:off x="731520" y="2926080"/>
            <a:ext cx="1069848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INSIGHT</a:t>
            </a:r>
            <a:endParaRPr dirty="0" sz="1500" lang="en-US"/>
          </a:p>
        </p:txBody>
      </p:sp>
      <p:sp>
        <p:nvSpPr>
          <p:cNvPr id="1048712" name="Text 4"/>
          <p:cNvSpPr txBox="1"/>
          <p:nvPr/>
        </p:nvSpPr>
        <p:spPr>
          <a:xfrm>
            <a:off x="731520" y="3611880"/>
            <a:ext cx="10698480" cy="1920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20000"/>
              </a:lnSpc>
              <a:buNone/>
            </a:pPr>
            <a:r>
              <a:rPr dirty="0" sz="1500" i="1" lang="en-US">
                <a:solidFill>
                  <a:srgbClr val="E1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health program or government wanted to close Nigeria's gap fastest, it wouldn't wait for income growth — it would look at what lower-resourced countries like Ethiopia are doing right, and apply that same urgency to Nigeria's health system, since money clearly isn't the main barrier holding progress back.</a:t>
            </a:r>
            <a:endParaRPr dirty="0" sz="1500" lang="en-US"/>
          </a:p>
        </p:txBody>
      </p:sp>
      <p:sp>
        <p:nvSpPr>
          <p:cNvPr id="1048713" name="Text 5"/>
          <p:cNvSpPr txBox="1"/>
          <p:nvPr/>
        </p:nvSpPr>
        <p:spPr>
          <a:xfrm>
            <a:off x="731520" y="6309360"/>
            <a:ext cx="106984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endParaRPr dirty="0" sz="10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E6286"/>
        </a:soli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ext 0"/>
          <p:cNvSpPr txBox="1"/>
          <p:nvPr/>
        </p:nvSpPr>
        <p:spPr>
          <a:xfrm>
            <a:off x="640080" y="457200"/>
            <a:ext cx="91440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dirty="0" sz="1200" lang="en-US"/>
          </a:p>
        </p:txBody>
      </p:sp>
      <p:sp>
        <p:nvSpPr>
          <p:cNvPr id="1048718" name="Text 1"/>
          <p:cNvSpPr txBox="1"/>
          <p:nvPr/>
        </p:nvSpPr>
        <p:spPr>
          <a:xfrm>
            <a:off x="640080" y="777240"/>
            <a:ext cx="108813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Maternal Mortality in Selected African Countries — Power BI Dashboard</a:t>
            </a:r>
            <a:endParaRPr dirty="0" sz="2000" lang="en-US"/>
          </a:p>
        </p:txBody>
      </p:sp>
      <p:pic>
        <p:nvPicPr>
          <p:cNvPr id="2097152" name="Image 0" descr="/mnt/user-data/uploads/Screenshot__3_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48640" y="1417320"/>
            <a:ext cx="5394960" cy="2889504"/>
          </a:xfrm>
          <a:prstGeom prst="rect"/>
        </p:spPr>
      </p:pic>
      <p:pic>
        <p:nvPicPr>
          <p:cNvPr id="2097153" name="Image 1" descr="/mnt/user-data/uploads/Screenshot__4_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126480" y="1417320"/>
            <a:ext cx="5394960" cy="2898648"/>
          </a:xfrm>
          <a:prstGeom prst="rect"/>
        </p:spPr>
      </p:pic>
      <p:sp>
        <p:nvSpPr>
          <p:cNvPr id="1048719" name="Text 2"/>
          <p:cNvSpPr txBox="1"/>
          <p:nvPr/>
        </p:nvSpPr>
        <p:spPr>
          <a:xfrm>
            <a:off x="640080" y="6355080"/>
            <a:ext cx="1088136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C7C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Mortality in Selected African Countries  •  Data Analytics Project  •  Mercy Dalhatu</a:t>
            </a:r>
            <a:endParaRPr dirty="0" sz="1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2026-09-10T09:16:39Z</dcterms:created>
  <dcterms:modified xsi:type="dcterms:W3CDTF">2026-09-10T11:24:59Z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cfc1cbe32c2348408945810bbb1eb0eb_23</vt:lpwstr>
  </property>
</Properties>
</file>